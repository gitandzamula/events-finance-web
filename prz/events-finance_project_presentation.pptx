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16.svg" ContentType="image/svg"/>
  <Override PartName="/ppt/media/image28.png" ContentType="image/png"/>
  <Override PartName="/ppt/media/image27.png" ContentType="image/png"/>
  <Override PartName="/ppt/media/image14.svg" ContentType="image/svg"/>
  <Override PartName="/ppt/media/image25.png" ContentType="image/png"/>
  <Override PartName="/ppt/media/image12.svg" ContentType="image/sv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36.png" ContentType="image/png"/>
  <Override PartName="/ppt/media/image4.png" ContentType="image/png"/>
  <Override PartName="/ppt/media/image24.svg" ContentType="image/svg"/>
  <Override PartName="/ppt/media/image37.png" ContentType="image/png"/>
  <Override PartName="/ppt/media/image30.png" ContentType="image/png"/>
  <Override PartName="/ppt/media/image32.png" ContentType="image/png"/>
  <Override PartName="/ppt/media/image35.png" ContentType="image/png"/>
  <Override PartName="/ppt/media/image38.svg" ContentType="image/svg"/>
  <Override PartName="/ppt/media/image40.svg" ContentType="image/svg"/>
  <Override PartName="/ppt/media/image31.png" ContentType="image/png"/>
  <Override PartName="/ppt/media/image42.svg" ContentType="image/svg"/>
  <Override PartName="/ppt/media/image41.png" ContentType="image/png"/>
  <Override PartName="/ppt/media/image3.svg" ContentType="image/svg"/>
  <Override PartName="/ppt/media/image11.png" ContentType="image/png"/>
  <Override PartName="/ppt/media/image2.png" ContentType="image/png"/>
  <Override PartName="/ppt/media/image34.png" ContentType="image/png"/>
  <Override PartName="/ppt/media/image8.png" ContentType="image/png"/>
  <Override PartName="/ppt/media/image17.png" ContentType="image/png"/>
  <Override PartName="/ppt/media/image9.svg" ContentType="image/svg"/>
  <Override PartName="/ppt/media/image13.png" ContentType="image/png"/>
  <Override PartName="/ppt/media/image5.svg" ContentType="image/svg"/>
  <Override PartName="/ppt/media/image10.png" ContentType="image/png"/>
  <Override PartName="/ppt/media/image1.png" ContentType="image/png"/>
  <Override PartName="/ppt/media/image33.png" ContentType="image/png"/>
  <Override PartName="/ppt/media/image6.png" ContentType="image/png"/>
  <Override PartName="/ppt/media/image39.png" ContentType="image/png"/>
  <Override PartName="/ppt/media/image26.svg" ContentType="image/svg"/>
  <Override PartName="/ppt/media/image15.png" ContentType="image/png"/>
  <Override PartName="/ppt/media/image7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E25D7E3-F5CB-4902-B64D-76DD6EB731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A4AD952-121B-447E-8910-505D828BFD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54BDE19-05DD-4ED8-B95D-84AB2273F5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B73AEE9-6B83-4449-837A-A2916DB2EF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F850537-9906-4E16-8C99-3FD8FB2E05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44AAB7C-2C2F-4C5E-9540-E9AE1DAB90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732EFA1-8145-46C7-9506-EC4A429494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47815844-A139-4ADB-926D-11B9E4090E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196CA148-1563-4569-B82B-DB00430836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FB8A411-3FE8-4BA2-AC8E-601748BD82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C99D610F-D47F-492B-A683-26F0D9A3F6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</a:t>
            </a:r>
            <a:r>
              <a:rPr b="0" lang="ru-RU" sz="4400" spc="-1" strike="noStrike">
                <a:solidFill>
                  <a:schemeClr val="dk1"/>
                </a:solidFill>
                <a:latin typeface="Calibri"/>
              </a:rPr>
              <a:t>мышью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58EE9E-B902-4F44-B60D-F6441E64311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DE499B-21A6-4CAE-8518-434A5B6A85F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26B692-747D-4299-8082-2FCB01F7B7C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"/>
              </a:rPr>
              <a:t>Для правки текста </a:t>
            </a:r>
            <a:r>
              <a:rPr b="0" lang="ru-RU" sz="4400" spc="-1" strike="noStrike">
                <a:solidFill>
                  <a:schemeClr val="dk1"/>
                </a:solidFill>
                <a:latin typeface="Calibri"/>
              </a:rPr>
              <a:t>заглавия щёлкните </a:t>
            </a:r>
            <a:r>
              <a:rPr b="0" lang="ru-RU" sz="4400" spc="-1" strike="noStrike">
                <a:solidFill>
                  <a:schemeClr val="dk1"/>
                </a:solidFill>
                <a:latin typeface="Calibri"/>
              </a:rPr>
              <a:t>мышью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0E38B1-CFCA-4E4B-A02C-385EDB72307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928D76-4FEC-4457-8CD3-DDB138D944C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C8A4F1-E9DD-4531-8297-ECE0A236FB4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E5AD23-B7E0-4E05-99C5-08F8C450F86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4D4868-7FB7-47F0-A9F5-41144958FE2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FC4FC8-F13A-4946-8639-A73CE30E219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7FC2D4-FAF0-4D8E-ACB2-441ED9CD21D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18B7EF-7A60-4ECE-89E3-8A63E453C3A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sv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15.png"/><Relationship Id="rId6" Type="http://schemas.openxmlformats.org/officeDocument/2006/relationships/image" Target="../media/image16.sv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sv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Relationship Id="rId9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5.png"/><Relationship Id="rId6" Type="http://schemas.openxmlformats.org/officeDocument/2006/relationships/image" Target="../media/image26.sv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35.png"/><Relationship Id="rId6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41.png"/><Relationship Id="rId7" Type="http://schemas.openxmlformats.org/officeDocument/2006/relationships/image" Target="../media/image42.svg"/><Relationship Id="rId8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utoShape 2"/>
          <p:cNvSpPr/>
          <p:nvPr/>
        </p:nvSpPr>
        <p:spPr>
          <a:xfrm>
            <a:off x="16153560" y="0"/>
            <a:ext cx="1704600" cy="5142600"/>
          </a:xfrm>
          <a:prstGeom prst="rect">
            <a:avLst/>
          </a:prstGeom>
          <a:solidFill>
            <a:srgbClr val="cdd7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AutoShape 3"/>
          <p:cNvSpPr/>
          <p:nvPr/>
        </p:nvSpPr>
        <p:spPr>
          <a:xfrm>
            <a:off x="16582320" y="0"/>
            <a:ext cx="1704600" cy="6299280"/>
          </a:xfrm>
          <a:prstGeom prst="rect">
            <a:avLst/>
          </a:prstGeom>
          <a:solidFill>
            <a:srgbClr val="0ad9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Freeform 4"/>
          <p:cNvSpPr/>
          <p:nvPr/>
        </p:nvSpPr>
        <p:spPr>
          <a:xfrm>
            <a:off x="11520000" y="3417480"/>
            <a:ext cx="6892920" cy="6892920"/>
          </a:xfrm>
          <a:custGeom>
            <a:avLst/>
            <a:gdLst>
              <a:gd name="textAreaLeft" fmla="*/ 0 w 6892920"/>
              <a:gd name="textAreaRight" fmla="*/ 6894000 w 6892920"/>
              <a:gd name="textAreaTop" fmla="*/ 0 h 6892920"/>
              <a:gd name="textAreaBottom" fmla="*/ 6894000 h 6892920"/>
            </a:gdLst>
            <a:ahLst/>
            <a:rect l="textAreaLeft" t="textAreaTop" r="textAreaRight" b="textAreaBottom"/>
            <a:pathLst>
              <a:path w="6893872" h="6893872">
                <a:moveTo>
                  <a:pt x="0" y="0"/>
                </a:moveTo>
                <a:lnTo>
                  <a:pt x="6893872" y="0"/>
                </a:lnTo>
                <a:lnTo>
                  <a:pt x="6893872" y="6893872"/>
                </a:lnTo>
                <a:lnTo>
                  <a:pt x="0" y="68938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Freeform 5"/>
          <p:cNvSpPr/>
          <p:nvPr/>
        </p:nvSpPr>
        <p:spPr>
          <a:xfrm>
            <a:off x="14952960" y="333360"/>
            <a:ext cx="2400120" cy="2400120"/>
          </a:xfrm>
          <a:custGeom>
            <a:avLst/>
            <a:gdLst>
              <a:gd name="textAreaLeft" fmla="*/ 0 w 2400120"/>
              <a:gd name="textAreaRight" fmla="*/ 2401200 w 2400120"/>
              <a:gd name="textAreaTop" fmla="*/ 0 h 2400120"/>
              <a:gd name="textAreaBottom" fmla="*/ 2401200 h 2400120"/>
            </a:gdLst>
            <a:ahLst/>
            <a:rect l="textAreaLeft" t="textAreaTop" r="textAreaRight" b="textAreaBottom"/>
            <a:pathLst>
              <a:path w="2401341" h="2401341">
                <a:moveTo>
                  <a:pt x="0" y="0"/>
                </a:moveTo>
                <a:lnTo>
                  <a:pt x="2401341" y="0"/>
                </a:lnTo>
                <a:lnTo>
                  <a:pt x="2401341" y="2401341"/>
                </a:lnTo>
                <a:lnTo>
                  <a:pt x="0" y="240134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7"/>
          <p:cNvSpPr/>
          <p:nvPr/>
        </p:nvSpPr>
        <p:spPr>
          <a:xfrm>
            <a:off x="934560" y="1533600"/>
            <a:ext cx="12129480" cy="279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499"/>
              </a:lnSpc>
            </a:pPr>
            <a:r>
              <a:rPr b="1" lang="ru-RU" sz="6000" spc="-1" strike="noStrike">
                <a:solidFill>
                  <a:srgbClr val="000000"/>
                </a:solidFill>
                <a:latin typeface="Helvetica World Bold"/>
                <a:ea typeface="Helvetica World Bold"/>
              </a:rPr>
              <a:t>Система учета</a:t>
            </a:r>
            <a:endParaRPr b="0" lang="ru-RU" sz="6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5499"/>
              </a:lnSpc>
            </a:pPr>
            <a:r>
              <a:rPr b="1" lang="ru-RU" sz="6000" spc="-1" strike="noStrike">
                <a:solidFill>
                  <a:srgbClr val="000000"/>
                </a:solidFill>
                <a:latin typeface="Helvetica World Bold"/>
                <a:ea typeface="Helvetica World Bold"/>
              </a:rPr>
              <a:t>расходов и доходов</a:t>
            </a:r>
            <a:endParaRPr b="0" lang="ru-RU" sz="6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5499"/>
              </a:lnSpc>
            </a:pPr>
            <a:r>
              <a:rPr b="1" lang="ru-RU" sz="6000" spc="-1" strike="noStrike">
                <a:solidFill>
                  <a:srgbClr val="000000"/>
                </a:solidFill>
                <a:latin typeface="Helvetica World Bold"/>
                <a:ea typeface="Helvetica World Bold"/>
              </a:rPr>
              <a:t>при организации мероприятий</a:t>
            </a:r>
            <a:endParaRPr b="0" lang="ru-RU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9"/>
          <p:cNvSpPr/>
          <p:nvPr/>
        </p:nvSpPr>
        <p:spPr>
          <a:xfrm>
            <a:off x="934560" y="9150840"/>
            <a:ext cx="75762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9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Андрей Замула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9"/>
          <p:cNvSpPr/>
          <p:nvPr/>
        </p:nvSpPr>
        <p:spPr>
          <a:xfrm>
            <a:off x="934560" y="4369680"/>
            <a:ext cx="75762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9"/>
              </a:lnSpc>
            </a:pPr>
            <a:r>
              <a:rPr b="1" lang="ru-RU" sz="3200" spc="-1" strike="noStrike">
                <a:solidFill>
                  <a:schemeClr val="lt1">
                    <a:lumMod val="75000"/>
                  </a:schemeClr>
                </a:solidFill>
                <a:latin typeface="Open Sans Bold"/>
              </a:rPr>
              <a:t>Версия 2.0 </a:t>
            </a:r>
            <a:r>
              <a:rPr b="1" lang="en-US" sz="3200" spc="-1" strike="noStrike">
                <a:solidFill>
                  <a:schemeClr val="lt1">
                    <a:lumMod val="75000"/>
                  </a:schemeClr>
                </a:solidFill>
                <a:latin typeface="Open Sans Bold"/>
              </a:rPr>
              <a:t>| Web-</a:t>
            </a:r>
            <a:r>
              <a:rPr b="1" lang="ru-RU" sz="3200" spc="-1" strike="noStrike">
                <a:solidFill>
                  <a:schemeClr val="lt1">
                    <a:lumMod val="75000"/>
                  </a:schemeClr>
                </a:solidFill>
                <a:latin typeface="Open Sans Bold"/>
              </a:rPr>
              <a:t>приложение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AutoShape 2"/>
          <p:cNvSpPr/>
          <p:nvPr/>
        </p:nvSpPr>
        <p:spPr>
          <a:xfrm>
            <a:off x="0" y="0"/>
            <a:ext cx="539280" cy="2838960"/>
          </a:xfrm>
          <a:prstGeom prst="rect">
            <a:avLst/>
          </a:prstGeom>
          <a:solidFill>
            <a:srgbClr val="fe90b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Freeform 3"/>
          <p:cNvSpPr/>
          <p:nvPr/>
        </p:nvSpPr>
        <p:spPr>
          <a:xfrm rot="16200000">
            <a:off x="0" y="1080"/>
            <a:ext cx="2593440" cy="2593440"/>
          </a:xfrm>
          <a:custGeom>
            <a:avLst/>
            <a:gdLst>
              <a:gd name="textAreaLeft" fmla="*/ 0 w 2593440"/>
              <a:gd name="textAreaRight" fmla="*/ 2594520 w 2593440"/>
              <a:gd name="textAreaTop" fmla="*/ 0 h 2593440"/>
              <a:gd name="textAreaBottom" fmla="*/ 2594520 h 2593440"/>
            </a:gdLst>
            <a:ahLst/>
            <a:rect l="textAreaLeft" t="textAreaTop" r="textAreaRight" b="textAreaBottom"/>
            <a:pathLst>
              <a:path w="2594628" h="2594628">
                <a:moveTo>
                  <a:pt x="0" y="0"/>
                </a:moveTo>
                <a:lnTo>
                  <a:pt x="2594628" y="0"/>
                </a:lnTo>
                <a:lnTo>
                  <a:pt x="2594628" y="2594628"/>
                </a:lnTo>
                <a:lnTo>
                  <a:pt x="0" y="2594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Freeform 4"/>
          <p:cNvSpPr/>
          <p:nvPr/>
        </p:nvSpPr>
        <p:spPr>
          <a:xfrm>
            <a:off x="276120" y="996120"/>
            <a:ext cx="1883160" cy="1883160"/>
          </a:xfrm>
          <a:custGeom>
            <a:avLst/>
            <a:gdLst>
              <a:gd name="textAreaLeft" fmla="*/ 0 w 1883160"/>
              <a:gd name="textAreaRight" fmla="*/ 1884240 w 1883160"/>
              <a:gd name="textAreaTop" fmla="*/ 0 h 1883160"/>
              <a:gd name="textAreaBottom" fmla="*/ 1884240 h 1883160"/>
            </a:gdLst>
            <a:ahLst/>
            <a:rect l="textAreaLeft" t="textAreaTop" r="textAreaRight" b="textAreaBottom"/>
            <a:pathLst>
              <a:path w="1884116" h="1884116">
                <a:moveTo>
                  <a:pt x="0" y="0"/>
                </a:moveTo>
                <a:lnTo>
                  <a:pt x="1884116" y="0"/>
                </a:lnTo>
                <a:lnTo>
                  <a:pt x="1884116" y="1884117"/>
                </a:lnTo>
                <a:lnTo>
                  <a:pt x="0" y="188411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Freeform 5"/>
          <p:cNvSpPr/>
          <p:nvPr/>
        </p:nvSpPr>
        <p:spPr>
          <a:xfrm rot="10800000">
            <a:off x="16776000" y="8820720"/>
            <a:ext cx="1512000" cy="1512000"/>
          </a:xfrm>
          <a:custGeom>
            <a:avLst/>
            <a:gdLst>
              <a:gd name="textAreaLeft" fmla="*/ 0 w 1512000"/>
              <a:gd name="textAreaRight" fmla="*/ 1513080 w 1512000"/>
              <a:gd name="textAreaTop" fmla="*/ 0 h 1512000"/>
              <a:gd name="textAreaBottom" fmla="*/ 1513080 h 1512000"/>
            </a:gdLst>
            <a:ahLst/>
            <a:rect l="textAreaLeft" t="textAreaTop" r="textAreaRight" b="textAreaBottom"/>
            <a:pathLst>
              <a:path w="1513140" h="1513140">
                <a:moveTo>
                  <a:pt x="0" y="0"/>
                </a:moveTo>
                <a:lnTo>
                  <a:pt x="1513140" y="0"/>
                </a:lnTo>
                <a:lnTo>
                  <a:pt x="1513140" y="1513140"/>
                </a:lnTo>
                <a:lnTo>
                  <a:pt x="0" y="15131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6"/>
          <p:cNvSpPr/>
          <p:nvPr/>
        </p:nvSpPr>
        <p:spPr>
          <a:xfrm>
            <a:off x="4988880" y="813240"/>
            <a:ext cx="1157040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499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ru-RU" sz="5000" spc="-1" strike="noStrike">
                <a:solidFill>
                  <a:srgbClr val="000000"/>
                </a:solidFill>
                <a:latin typeface="Helvetica World Bold"/>
                <a:ea typeface="Helvetica World Bold"/>
              </a:rPr>
              <a:t>О проекте</a:t>
            </a: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8"/>
          <p:cNvSpPr/>
          <p:nvPr/>
        </p:nvSpPr>
        <p:spPr>
          <a:xfrm>
            <a:off x="11769480" y="2351160"/>
            <a:ext cx="5510160" cy="711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Веб-приложение для организаторов мероприятий, которое позволяет: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Создавать и публиковать афишу мероприятий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Рассчитывать финансовые показатели (расходы, себестоимость, прибыль)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Учитывать различные категории участников и скидки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    </a:t>
            </a:r>
            <a:r>
              <a:rPr b="0" lang="ru-RU" sz="28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Генерировать отчеты и листовки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" descr=""/>
          <p:cNvPicPr/>
          <p:nvPr/>
        </p:nvPicPr>
        <p:blipFill>
          <a:blip r:embed="rId7"/>
          <a:stretch/>
        </p:blipFill>
        <p:spPr>
          <a:xfrm>
            <a:off x="539280" y="2160000"/>
            <a:ext cx="10440720" cy="7602120"/>
          </a:xfrm>
          <a:prstGeom prst="rect">
            <a:avLst/>
          </a:prstGeom>
          <a:ln w="0">
            <a:solidFill>
              <a:srgbClr val="3465a4"/>
            </a:solidFill>
            <a:prstDash val="sysDot"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reeform 2"/>
          <p:cNvSpPr/>
          <p:nvPr/>
        </p:nvSpPr>
        <p:spPr>
          <a:xfrm rot="5400000">
            <a:off x="14950080" y="6948000"/>
            <a:ext cx="2905920" cy="3769560"/>
          </a:xfrm>
          <a:custGeom>
            <a:avLst/>
            <a:gdLst>
              <a:gd name="textAreaLeft" fmla="*/ 0 w 2905920"/>
              <a:gd name="textAreaRight" fmla="*/ 2907000 w 2905920"/>
              <a:gd name="textAreaTop" fmla="*/ 0 h 3769560"/>
              <a:gd name="textAreaBottom" fmla="*/ 3770640 h 3769560"/>
            </a:gdLst>
            <a:ahLst/>
            <a:rect l="textAreaLeft" t="textAreaTop" r="textAreaRight" b="textAreaBottom"/>
            <a:pathLst>
              <a:path w="3698575" h="3698575">
                <a:moveTo>
                  <a:pt x="0" y="0"/>
                </a:moveTo>
                <a:lnTo>
                  <a:pt x="3698575" y="0"/>
                </a:lnTo>
                <a:lnTo>
                  <a:pt x="3698575" y="3698575"/>
                </a:lnTo>
                <a:lnTo>
                  <a:pt x="0" y="36985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Freeform 3"/>
          <p:cNvSpPr/>
          <p:nvPr/>
        </p:nvSpPr>
        <p:spPr>
          <a:xfrm rot="5400000">
            <a:off x="14805720" y="7062480"/>
            <a:ext cx="2194560" cy="2194560"/>
          </a:xfrm>
          <a:custGeom>
            <a:avLst/>
            <a:gdLst>
              <a:gd name="textAreaLeft" fmla="*/ 0 w 2194560"/>
              <a:gd name="textAreaRight" fmla="*/ 2195640 w 2194560"/>
              <a:gd name="textAreaTop" fmla="*/ 0 h 2194560"/>
              <a:gd name="textAreaBottom" fmla="*/ 2195640 h 2194560"/>
            </a:gdLst>
            <a:ahLst/>
            <a:rect l="textAreaLeft" t="textAreaTop" r="textAreaRight" b="textAreaBottom"/>
            <a:pathLst>
              <a:path w="2195759" h="2195759">
                <a:moveTo>
                  <a:pt x="0" y="0"/>
                </a:moveTo>
                <a:lnTo>
                  <a:pt x="2195759" y="0"/>
                </a:lnTo>
                <a:lnTo>
                  <a:pt x="2195759" y="2195759"/>
                </a:lnTo>
                <a:lnTo>
                  <a:pt x="0" y="219575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Freeform 4"/>
          <p:cNvSpPr/>
          <p:nvPr/>
        </p:nvSpPr>
        <p:spPr>
          <a:xfrm rot="5400000">
            <a:off x="14518440" y="6725880"/>
            <a:ext cx="2453400" cy="2453400"/>
          </a:xfrm>
          <a:custGeom>
            <a:avLst/>
            <a:gdLst>
              <a:gd name="textAreaLeft" fmla="*/ 0 w 2453400"/>
              <a:gd name="textAreaRight" fmla="*/ 2454480 w 2453400"/>
              <a:gd name="textAreaTop" fmla="*/ 0 h 2453400"/>
              <a:gd name="textAreaBottom" fmla="*/ 2454480 h 2453400"/>
            </a:gdLst>
            <a:ahLst/>
            <a:rect l="textAreaLeft" t="textAreaTop" r="textAreaRight" b="textAreaBottom"/>
            <a:pathLst>
              <a:path w="2454651" h="2454651">
                <a:moveTo>
                  <a:pt x="0" y="0"/>
                </a:moveTo>
                <a:lnTo>
                  <a:pt x="2454651" y="0"/>
                </a:lnTo>
                <a:lnTo>
                  <a:pt x="2454651" y="2454651"/>
                </a:lnTo>
                <a:lnTo>
                  <a:pt x="0" y="245465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7" name="Group 5"/>
          <p:cNvGrpSpPr/>
          <p:nvPr/>
        </p:nvGrpSpPr>
        <p:grpSpPr>
          <a:xfrm>
            <a:off x="16560000" y="8659440"/>
            <a:ext cx="1007280" cy="1007280"/>
            <a:chOff x="16560000" y="8659440"/>
            <a:chExt cx="1007280" cy="1007280"/>
          </a:xfrm>
        </p:grpSpPr>
        <p:sp>
          <p:nvSpPr>
            <p:cNvPr id="68" name="Freeform 6"/>
            <p:cNvSpPr/>
            <p:nvPr/>
          </p:nvSpPr>
          <p:spPr>
            <a:xfrm>
              <a:off x="16560000" y="8659440"/>
              <a:ext cx="1007280" cy="1007280"/>
            </a:xfrm>
            <a:custGeom>
              <a:avLst/>
              <a:gdLst>
                <a:gd name="textAreaLeft" fmla="*/ 0 w 1007280"/>
                <a:gd name="textAreaRight" fmla="*/ 1008360 w 1007280"/>
                <a:gd name="textAreaTop" fmla="*/ 0 h 1007280"/>
                <a:gd name="textAreaBottom" fmla="*/ 1008360 h 100728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90b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" name="TextBox 7"/>
            <p:cNvSpPr/>
            <p:nvPr/>
          </p:nvSpPr>
          <p:spPr>
            <a:xfrm>
              <a:off x="16654680" y="8777520"/>
              <a:ext cx="818280" cy="79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3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0" name="TextBox 20"/>
          <p:cNvSpPr/>
          <p:nvPr/>
        </p:nvSpPr>
        <p:spPr>
          <a:xfrm>
            <a:off x="4988880" y="813240"/>
            <a:ext cx="1157040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499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5000" spc="-1" strike="noStrike">
                <a:solidFill>
                  <a:srgbClr val="000000"/>
                </a:solidFill>
                <a:latin typeface="Helvetica World Bold"/>
                <a:ea typeface="Helvetica World Bold"/>
              </a:rPr>
              <a:t>Технологический стек</a:t>
            </a:r>
            <a:endParaRPr b="1" lang="ru-RU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22"/>
          <p:cNvSpPr/>
          <p:nvPr/>
        </p:nvSpPr>
        <p:spPr>
          <a:xfrm>
            <a:off x="900000" y="2160000"/>
            <a:ext cx="5354280" cy="47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26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Бэкенд: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Python 3.12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Flask (веб-фреймворк)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PostgreSQL (БД)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SQLAlchemy ORM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64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1"/>
          <p:cNvSpPr/>
          <p:nvPr/>
        </p:nvSpPr>
        <p:spPr>
          <a:xfrm>
            <a:off x="6525720" y="2160000"/>
            <a:ext cx="5354280" cy="38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26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Фронтенд: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Bootstrap 5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Jinja2 шаблоны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JavaScript (переключение видов)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12105720" y="2160000"/>
            <a:ext cx="5354280" cy="40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26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Инструменты: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Flask-Migrate (миграции)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Flask-Login (аутентификация)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Flask-WTF (формы)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64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7"/>
          <a:stretch/>
        </p:blipFill>
        <p:spPr>
          <a:xfrm>
            <a:off x="540000" y="8100000"/>
            <a:ext cx="1080000" cy="1080000"/>
          </a:xfrm>
          <a:prstGeom prst="rect">
            <a:avLst/>
          </a:prstGeom>
          <a:ln w="0">
            <a:noFill/>
          </a:ln>
        </p:spPr>
      </p:pic>
      <p:pic>
        <p:nvPicPr>
          <p:cNvPr id="75" name="" descr=""/>
          <p:cNvPicPr/>
          <p:nvPr/>
        </p:nvPicPr>
        <p:blipFill>
          <a:blip r:embed="rId8"/>
          <a:stretch/>
        </p:blipFill>
        <p:spPr>
          <a:xfrm>
            <a:off x="1794240" y="7989120"/>
            <a:ext cx="2201760" cy="1242000"/>
          </a:xfrm>
          <a:prstGeom prst="rect">
            <a:avLst/>
          </a:prstGeom>
          <a:ln w="0">
            <a:noFill/>
          </a:ln>
        </p:spPr>
      </p:pic>
      <p:pic>
        <p:nvPicPr>
          <p:cNvPr id="76" name="" descr=""/>
          <p:cNvPicPr/>
          <p:nvPr/>
        </p:nvPicPr>
        <p:blipFill>
          <a:blip r:embed="rId9"/>
          <a:stretch/>
        </p:blipFill>
        <p:spPr>
          <a:xfrm>
            <a:off x="4140000" y="8208000"/>
            <a:ext cx="1015560" cy="1047240"/>
          </a:xfrm>
          <a:prstGeom prst="rect">
            <a:avLst/>
          </a:prstGeom>
          <a:ln w="0">
            <a:noFill/>
          </a:ln>
        </p:spPr>
      </p:pic>
      <p:pic>
        <p:nvPicPr>
          <p:cNvPr id="77" name="" descr=""/>
          <p:cNvPicPr/>
          <p:nvPr/>
        </p:nvPicPr>
        <p:blipFill>
          <a:blip r:embed="rId10"/>
          <a:stretch/>
        </p:blipFill>
        <p:spPr>
          <a:xfrm>
            <a:off x="5544000" y="8208000"/>
            <a:ext cx="4140000" cy="1085400"/>
          </a:xfrm>
          <a:prstGeom prst="rect">
            <a:avLst/>
          </a:prstGeom>
          <a:ln w="0">
            <a:noFill/>
          </a:ln>
        </p:spPr>
      </p:pic>
      <p:pic>
        <p:nvPicPr>
          <p:cNvPr id="78" name="" descr=""/>
          <p:cNvPicPr/>
          <p:nvPr/>
        </p:nvPicPr>
        <p:blipFill>
          <a:blip r:embed="rId11"/>
          <a:stretch/>
        </p:blipFill>
        <p:spPr>
          <a:xfrm>
            <a:off x="9855360" y="8136000"/>
            <a:ext cx="3032640" cy="1212840"/>
          </a:xfrm>
          <a:prstGeom prst="rect">
            <a:avLst/>
          </a:prstGeom>
          <a:ln w="0">
            <a:noFill/>
          </a:ln>
        </p:spPr>
      </p:pic>
      <p:pic>
        <p:nvPicPr>
          <p:cNvPr id="79" name="" descr=""/>
          <p:cNvPicPr/>
          <p:nvPr/>
        </p:nvPicPr>
        <p:blipFill>
          <a:blip r:embed="rId12"/>
          <a:stretch/>
        </p:blipFill>
        <p:spPr>
          <a:xfrm>
            <a:off x="13140000" y="8100000"/>
            <a:ext cx="1260000" cy="12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Freeform 15"/>
          <p:cNvSpPr/>
          <p:nvPr/>
        </p:nvSpPr>
        <p:spPr>
          <a:xfrm flipH="1" flipV="1" rot="5400000">
            <a:off x="15834240" y="7833240"/>
            <a:ext cx="2453400" cy="2453400"/>
          </a:xfrm>
          <a:custGeom>
            <a:avLst/>
            <a:gdLst>
              <a:gd name="textAreaLeft" fmla="*/ -360 w 2453400"/>
              <a:gd name="textAreaRight" fmla="*/ 2454120 w 2453400"/>
              <a:gd name="textAreaTop" fmla="*/ -360 h 2453400"/>
              <a:gd name="textAreaBottom" fmla="*/ 2454120 h 2453400"/>
            </a:gdLst>
            <a:ahLst/>
            <a:rect l="textAreaLeft" t="textAreaTop" r="textAreaRight" b="textAreaBottom"/>
            <a:pathLst>
              <a:path w="2454651" h="2454651">
                <a:moveTo>
                  <a:pt x="0" y="0"/>
                </a:moveTo>
                <a:lnTo>
                  <a:pt x="2454651" y="0"/>
                </a:lnTo>
                <a:lnTo>
                  <a:pt x="2454651" y="2454651"/>
                </a:lnTo>
                <a:lnTo>
                  <a:pt x="0" y="245465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Freeform 14"/>
          <p:cNvSpPr/>
          <p:nvPr/>
        </p:nvSpPr>
        <p:spPr>
          <a:xfrm flipH="1" flipV="1" rot="5400000">
            <a:off x="16093440" y="8092440"/>
            <a:ext cx="2194560" cy="2194560"/>
          </a:xfrm>
          <a:custGeom>
            <a:avLst/>
            <a:gdLst>
              <a:gd name="textAreaLeft" fmla="*/ 360 w 2194560"/>
              <a:gd name="textAreaRight" fmla="*/ 2196000 w 2194560"/>
              <a:gd name="textAreaTop" fmla="*/ 360 h 2194560"/>
              <a:gd name="textAreaBottom" fmla="*/ 2196000 h 2194560"/>
            </a:gdLst>
            <a:ahLst/>
            <a:rect l="textAreaLeft" t="textAreaTop" r="textAreaRight" b="textAreaBottom"/>
            <a:pathLst>
              <a:path w="2195759" h="2195759">
                <a:moveTo>
                  <a:pt x="0" y="0"/>
                </a:moveTo>
                <a:lnTo>
                  <a:pt x="2195759" y="0"/>
                </a:lnTo>
                <a:lnTo>
                  <a:pt x="2195759" y="2195759"/>
                </a:lnTo>
                <a:lnTo>
                  <a:pt x="0" y="219575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Freeform 16"/>
          <p:cNvSpPr/>
          <p:nvPr/>
        </p:nvSpPr>
        <p:spPr>
          <a:xfrm>
            <a:off x="15887880" y="7920000"/>
            <a:ext cx="2400120" cy="2400120"/>
          </a:xfrm>
          <a:custGeom>
            <a:avLst/>
            <a:gdLst>
              <a:gd name="textAreaLeft" fmla="*/ 0 w 2400120"/>
              <a:gd name="textAreaRight" fmla="*/ 2401200 w 2400120"/>
              <a:gd name="textAreaTop" fmla="*/ 0 h 2400120"/>
              <a:gd name="textAreaBottom" fmla="*/ 2401200 h 2400120"/>
            </a:gdLst>
            <a:ahLst/>
            <a:rect l="textAreaLeft" t="textAreaTop" r="textAreaRight" b="textAreaBottom"/>
            <a:pathLst>
              <a:path w="2401341" h="2401341">
                <a:moveTo>
                  <a:pt x="0" y="0"/>
                </a:moveTo>
                <a:lnTo>
                  <a:pt x="2401341" y="0"/>
                </a:lnTo>
                <a:lnTo>
                  <a:pt x="2401341" y="2401341"/>
                </a:lnTo>
                <a:lnTo>
                  <a:pt x="0" y="240134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AutoShape 1"/>
          <p:cNvSpPr/>
          <p:nvPr/>
        </p:nvSpPr>
        <p:spPr>
          <a:xfrm>
            <a:off x="540000" y="10080000"/>
            <a:ext cx="15347880" cy="207000"/>
          </a:xfrm>
          <a:prstGeom prst="rect">
            <a:avLst/>
          </a:prstGeom>
          <a:solidFill>
            <a:srgbClr val="0ad9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Freeform 17"/>
          <p:cNvSpPr/>
          <p:nvPr/>
        </p:nvSpPr>
        <p:spPr>
          <a:xfrm rot="10686000">
            <a:off x="17638200" y="360000"/>
            <a:ext cx="519840" cy="9898920"/>
          </a:xfrm>
          <a:custGeom>
            <a:avLst/>
            <a:gdLst>
              <a:gd name="textAreaLeft" fmla="*/ 0 w 519840"/>
              <a:gd name="textAreaRight" fmla="*/ 520200 w 519840"/>
              <a:gd name="textAreaTop" fmla="*/ 0 h 9898920"/>
              <a:gd name="textAreaBottom" fmla="*/ 9901080 h 9898920"/>
            </a:gdLst>
            <a:ahLst/>
            <a:rect l="textAreaLeft" t="textAreaTop" r="textAreaRight" b="textAreaBottom"/>
            <a:pathLst>
              <a:path w="3698575" h="3698575">
                <a:moveTo>
                  <a:pt x="0" y="0"/>
                </a:moveTo>
                <a:lnTo>
                  <a:pt x="3698575" y="0"/>
                </a:lnTo>
                <a:lnTo>
                  <a:pt x="3698575" y="3698575"/>
                </a:lnTo>
                <a:lnTo>
                  <a:pt x="0" y="36985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1080000" y="813240"/>
            <a:ext cx="1546956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499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5000" spc="-1" strike="noStrike">
                <a:solidFill>
                  <a:srgbClr val="000000"/>
                </a:solidFill>
                <a:latin typeface="Helvetica World Bold"/>
                <a:ea typeface="Helvetica World Bold"/>
              </a:rPr>
              <a:t>Архитектура</a:t>
            </a:r>
            <a:endParaRPr b="1" lang="ru-RU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1980000" y="1980000"/>
            <a:ext cx="6660000" cy="7200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1" lang="ru-RU" sz="1800" spc="-1" strike="noStrike">
                <a:solidFill>
                  <a:srgbClr val="000000"/>
                </a:solidFill>
                <a:latin typeface="Courier New"/>
              </a:rPr>
              <a:t>Клиент (Браузер)</a:t>
            </a:r>
            <a:br>
              <a:rPr sz="1800"/>
            </a:br>
            <a:r>
              <a:rPr b="1" lang="ru-RU" sz="1800" spc="-1" strike="noStrike">
                <a:solidFill>
                  <a:srgbClr val="000000"/>
                </a:solidFill>
                <a:latin typeface="Courier New"/>
              </a:rPr>
              <a:t>Bootstrap 5 / JavaScript / Jinja2 </a:t>
            </a:r>
            <a:endParaRPr b="1" lang="ru-RU" sz="1800" spc="-1" strike="noStrike">
              <a:solidFill>
                <a:srgbClr val="000000"/>
              </a:solidFill>
              <a:latin typeface="Courier New"/>
              <a:ea typeface="Courier New"/>
            </a:endParaRPr>
          </a:p>
        </p:txBody>
      </p:sp>
      <p:sp>
        <p:nvSpPr>
          <p:cNvPr id="87" name=""/>
          <p:cNvSpPr/>
          <p:nvPr/>
        </p:nvSpPr>
        <p:spPr>
          <a:xfrm>
            <a:off x="1980000" y="3240000"/>
            <a:ext cx="6660000" cy="7200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1" lang="ru-RU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Приложение Flask</a:t>
            </a:r>
            <a:endParaRPr b="0" lang="ru-RU" sz="1800" spc="-1" strike="noStrike">
              <a:solidFill>
                <a:srgbClr val="000000"/>
              </a:solidFill>
              <a:latin typeface="Courier New"/>
              <a:ea typeface="Courier New"/>
            </a:endParaRPr>
          </a:p>
        </p:txBody>
      </p:sp>
      <p:sp>
        <p:nvSpPr>
          <p:cNvPr id="88" name=""/>
          <p:cNvSpPr/>
          <p:nvPr/>
        </p:nvSpPr>
        <p:spPr>
          <a:xfrm>
            <a:off x="1980000" y="3960000"/>
            <a:ext cx="6660000" cy="7200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1" lang="ru-RU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Маршруты (Blueprints)</a:t>
            </a:r>
            <a:endParaRPr b="0" lang="ru-RU" sz="1800" spc="-1" strike="noStrike">
              <a:solidFill>
                <a:srgbClr val="000000"/>
              </a:solidFill>
              <a:latin typeface="Courier New"/>
              <a:ea typeface="Courier New"/>
            </a:endParaRPr>
          </a:p>
        </p:txBody>
      </p:sp>
      <p:sp>
        <p:nvSpPr>
          <p:cNvPr id="89" name=""/>
          <p:cNvSpPr/>
          <p:nvPr/>
        </p:nvSpPr>
        <p:spPr>
          <a:xfrm>
            <a:off x="1980000" y="4680000"/>
            <a:ext cx="6660000" cy="7200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1" lang="ru-RU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Формы (WTForms), Сервисы расчетов</a:t>
            </a:r>
            <a:endParaRPr b="0" lang="ru-RU" sz="1800" spc="-1" strike="noStrike">
              <a:solidFill>
                <a:srgbClr val="000000"/>
              </a:solidFill>
              <a:latin typeface="Courier New"/>
              <a:ea typeface="Courier New"/>
            </a:endParaRPr>
          </a:p>
        </p:txBody>
      </p:sp>
      <p:sp>
        <p:nvSpPr>
          <p:cNvPr id="90" name=""/>
          <p:cNvSpPr/>
          <p:nvPr/>
        </p:nvSpPr>
        <p:spPr>
          <a:xfrm>
            <a:off x="1980000" y="5400000"/>
            <a:ext cx="6660000" cy="7200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1" lang="ru-RU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SQLAlchemy ORM    </a:t>
            </a:r>
            <a:endParaRPr b="0" lang="ru-RU" sz="1800" spc="-1" strike="noStrike">
              <a:solidFill>
                <a:srgbClr val="000000"/>
              </a:solidFill>
              <a:latin typeface="Courier New"/>
              <a:ea typeface="Courier New"/>
            </a:endParaRPr>
          </a:p>
        </p:txBody>
      </p:sp>
      <p:sp>
        <p:nvSpPr>
          <p:cNvPr id="91" name=""/>
          <p:cNvSpPr/>
          <p:nvPr/>
        </p:nvSpPr>
        <p:spPr>
          <a:xfrm>
            <a:off x="1980000" y="6660000"/>
            <a:ext cx="6660000" cy="7200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1" lang="ru-RU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PostgreSQL</a:t>
            </a:r>
            <a:endParaRPr b="0" lang="ru-RU" sz="1800" spc="-1" strike="noStrike">
              <a:solidFill>
                <a:srgbClr val="000000"/>
              </a:solidFill>
              <a:latin typeface="Courier New"/>
              <a:ea typeface="Courier New"/>
            </a:endParaRPr>
          </a:p>
        </p:txBody>
      </p:sp>
      <p:sp>
        <p:nvSpPr>
          <p:cNvPr id="92" name=""/>
          <p:cNvSpPr/>
          <p:nvPr/>
        </p:nvSpPr>
        <p:spPr>
          <a:xfrm>
            <a:off x="1980000" y="7380000"/>
            <a:ext cx="6660000" cy="23400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1" lang="ru-RU" sz="1000" spc="-1" strike="noStrike">
              <a:solidFill>
                <a:srgbClr val="000000"/>
              </a:solidFill>
              <a:latin typeface="Courier New"/>
              <a:ea typeface="Courier New"/>
            </a:endParaRPr>
          </a:p>
        </p:txBody>
      </p:sp>
      <p:sp>
        <p:nvSpPr>
          <p:cNvPr id="93" name=""/>
          <p:cNvSpPr/>
          <p:nvPr/>
        </p:nvSpPr>
        <p:spPr>
          <a:xfrm>
            <a:off x="2232000" y="7632000"/>
            <a:ext cx="2700000" cy="7200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1" lang="ru-RU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users</a:t>
            </a:r>
            <a:endParaRPr b="0" lang="ru-RU" sz="1800" spc="-1" strike="noStrike">
              <a:solidFill>
                <a:srgbClr val="000000"/>
              </a:solidFill>
              <a:latin typeface="Courier New"/>
              <a:ea typeface="Courier New"/>
            </a:endParaRPr>
          </a:p>
        </p:txBody>
      </p:sp>
      <p:sp>
        <p:nvSpPr>
          <p:cNvPr id="94" name=""/>
          <p:cNvSpPr/>
          <p:nvPr/>
        </p:nvSpPr>
        <p:spPr>
          <a:xfrm>
            <a:off x="5652000" y="7632000"/>
            <a:ext cx="2700000" cy="7200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1" lang="ru-RU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events</a:t>
            </a:r>
            <a:endParaRPr b="0" lang="ru-RU" sz="1800" spc="-1" strike="noStrike">
              <a:solidFill>
                <a:srgbClr val="000000"/>
              </a:solidFill>
              <a:latin typeface="Courier New"/>
              <a:ea typeface="Courier New"/>
            </a:endParaRPr>
          </a:p>
        </p:txBody>
      </p:sp>
      <p:sp>
        <p:nvSpPr>
          <p:cNvPr id="95" name=""/>
          <p:cNvSpPr/>
          <p:nvPr/>
        </p:nvSpPr>
        <p:spPr>
          <a:xfrm>
            <a:off x="2232000" y="8712000"/>
            <a:ext cx="2700000" cy="7200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1" lang="ru-RU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events_categories</a:t>
            </a:r>
            <a:endParaRPr b="0" lang="ru-RU" sz="1800" spc="-1" strike="noStrike">
              <a:solidFill>
                <a:srgbClr val="000000"/>
              </a:solidFill>
              <a:latin typeface="Courier New"/>
              <a:ea typeface="Courier New"/>
            </a:endParaRPr>
          </a:p>
        </p:txBody>
      </p:sp>
      <p:sp>
        <p:nvSpPr>
          <p:cNvPr id="96" name=""/>
          <p:cNvSpPr/>
          <p:nvPr/>
        </p:nvSpPr>
        <p:spPr>
          <a:xfrm>
            <a:off x="5652000" y="8712000"/>
            <a:ext cx="2700000" cy="7200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1" lang="ru-RU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events_exspenses</a:t>
            </a:r>
            <a:endParaRPr b="0" lang="ru-RU" sz="1800" spc="-1" strike="noStrike">
              <a:solidFill>
                <a:srgbClr val="000000"/>
              </a:solidFill>
              <a:latin typeface="Courier New"/>
              <a:ea typeface="Courier New"/>
            </a:endParaRPr>
          </a:p>
        </p:txBody>
      </p:sp>
      <p:sp>
        <p:nvSpPr>
          <p:cNvPr id="97" name=""/>
          <p:cNvSpPr/>
          <p:nvPr/>
        </p:nvSpPr>
        <p:spPr>
          <a:xfrm>
            <a:off x="5256000" y="2700000"/>
            <a:ext cx="0" cy="54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5256000" y="6120000"/>
            <a:ext cx="0" cy="54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5256000" y="2700000"/>
            <a:ext cx="0" cy="54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6912000" y="8352000"/>
            <a:ext cx="0" cy="36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4932000" y="9072000"/>
            <a:ext cx="72000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9720000" y="1998000"/>
            <a:ext cx="7200000" cy="521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Ключевые классы: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User — модель пользователя (роли: admin/user)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Event — модель мероприятия (название, дата, тип, статус)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ExpenseCategory — справочник статей расходов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EventExpense — связь расходов с мероприятием (категория + сумма)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EventForm — форма создания/редактирования мероприятия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2"/>
          <p:cNvGrpSpPr/>
          <p:nvPr/>
        </p:nvGrpSpPr>
        <p:grpSpPr>
          <a:xfrm>
            <a:off x="2864880" y="7818840"/>
            <a:ext cx="777600" cy="777600"/>
            <a:chOff x="2864880" y="7818840"/>
            <a:chExt cx="777600" cy="777600"/>
          </a:xfrm>
        </p:grpSpPr>
        <p:sp>
          <p:nvSpPr>
            <p:cNvPr id="104" name="Freeform 3"/>
            <p:cNvSpPr/>
            <p:nvPr/>
          </p:nvSpPr>
          <p:spPr>
            <a:xfrm>
              <a:off x="2864880" y="7818840"/>
              <a:ext cx="777600" cy="777600"/>
            </a:xfrm>
            <a:custGeom>
              <a:avLst/>
              <a:gdLst>
                <a:gd name="textAreaLeft" fmla="*/ 0 w 777600"/>
                <a:gd name="textAreaRight" fmla="*/ 778680 w 777600"/>
                <a:gd name="textAreaTop" fmla="*/ 0 h 777600"/>
                <a:gd name="textAreaBottom" fmla="*/ 778680 h 777600"/>
              </a:gdLst>
              <a:ahLst/>
              <a:rect l="textAreaLeft" t="textAreaTop" r="textAreaRight" b="textAreaBottom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e90b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5" name="Freeform 4"/>
          <p:cNvSpPr/>
          <p:nvPr/>
        </p:nvSpPr>
        <p:spPr>
          <a:xfrm rot="16200000">
            <a:off x="16185600" y="108720"/>
            <a:ext cx="1806120" cy="1806120"/>
          </a:xfrm>
          <a:custGeom>
            <a:avLst/>
            <a:gdLst>
              <a:gd name="textAreaLeft" fmla="*/ 0 w 1806120"/>
              <a:gd name="textAreaRight" fmla="*/ 1807200 w 1806120"/>
              <a:gd name="textAreaTop" fmla="*/ 0 h 1806120"/>
              <a:gd name="textAreaBottom" fmla="*/ 1807200 h 1806120"/>
            </a:gdLst>
            <a:ahLst/>
            <a:rect l="textAreaLeft" t="textAreaTop" r="textAreaRight" b="textAreaBottom"/>
            <a:pathLst>
              <a:path w="1807234" h="1807234">
                <a:moveTo>
                  <a:pt x="0" y="0"/>
                </a:moveTo>
                <a:lnTo>
                  <a:pt x="1807234" y="0"/>
                </a:lnTo>
                <a:lnTo>
                  <a:pt x="1807234" y="1807234"/>
                </a:lnTo>
                <a:lnTo>
                  <a:pt x="0" y="18072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Freeform 5"/>
          <p:cNvSpPr/>
          <p:nvPr/>
        </p:nvSpPr>
        <p:spPr>
          <a:xfrm rot="5400000">
            <a:off x="16337880" y="258480"/>
            <a:ext cx="1806120" cy="1806120"/>
          </a:xfrm>
          <a:custGeom>
            <a:avLst/>
            <a:gdLst>
              <a:gd name="textAreaLeft" fmla="*/ 0 w 1806120"/>
              <a:gd name="textAreaRight" fmla="*/ 1807200 w 1806120"/>
              <a:gd name="textAreaTop" fmla="*/ 0 h 1806120"/>
              <a:gd name="textAreaBottom" fmla="*/ 1807200 h 1806120"/>
            </a:gdLst>
            <a:ahLst/>
            <a:rect l="textAreaLeft" t="textAreaTop" r="textAreaRight" b="textAreaBottom"/>
            <a:pathLst>
              <a:path w="1807234" h="1807234">
                <a:moveTo>
                  <a:pt x="0" y="0"/>
                </a:moveTo>
                <a:lnTo>
                  <a:pt x="1807234" y="0"/>
                </a:lnTo>
                <a:lnTo>
                  <a:pt x="1807234" y="1807234"/>
                </a:lnTo>
                <a:lnTo>
                  <a:pt x="0" y="18072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Freeform 6"/>
          <p:cNvSpPr/>
          <p:nvPr/>
        </p:nvSpPr>
        <p:spPr>
          <a:xfrm>
            <a:off x="1287360" y="6571080"/>
            <a:ext cx="2852640" cy="2608920"/>
          </a:xfrm>
          <a:custGeom>
            <a:avLst/>
            <a:gdLst>
              <a:gd name="textAreaLeft" fmla="*/ 0 w 2852640"/>
              <a:gd name="textAreaRight" fmla="*/ 2853720 w 2852640"/>
              <a:gd name="textAreaTop" fmla="*/ 0 h 2608920"/>
              <a:gd name="textAreaBottom" fmla="*/ 2610000 h 2608920"/>
            </a:gdLst>
            <a:ahLst/>
            <a:rect l="textAreaLeft" t="textAreaTop" r="textAreaRight" b="textAreaBottom"/>
            <a:pathLst>
              <a:path w="2853713" h="2609850">
                <a:moveTo>
                  <a:pt x="0" y="0"/>
                </a:moveTo>
                <a:lnTo>
                  <a:pt x="2853713" y="0"/>
                </a:lnTo>
                <a:lnTo>
                  <a:pt x="2853713" y="2609850"/>
                </a:lnTo>
                <a:lnTo>
                  <a:pt x="0" y="26098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8"/>
          <p:cNvSpPr/>
          <p:nvPr/>
        </p:nvSpPr>
        <p:spPr>
          <a:xfrm>
            <a:off x="1224000" y="1800000"/>
            <a:ext cx="541080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249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600" spc="-1" strike="noStrike">
                <a:solidFill>
                  <a:srgbClr val="000000"/>
                </a:solidFill>
                <a:latin typeface="Helvetica World Bold"/>
                <a:ea typeface="Helvetica World Bold"/>
              </a:rPr>
              <a:t>Для всех пользователей: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9"/>
          <p:cNvSpPr/>
          <p:nvPr/>
        </p:nvSpPr>
        <p:spPr>
          <a:xfrm>
            <a:off x="889200" y="2505240"/>
            <a:ext cx="5410800" cy="27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18" strike="noStrike">
                <a:solidFill>
                  <a:srgbClr val="000000"/>
                </a:solidFill>
                <a:latin typeface="Helvetica World"/>
                <a:ea typeface="Helvetica World"/>
              </a:rPr>
              <a:t>Просмотр афиши (карточки / таблица)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18" strike="noStrike">
                <a:solidFill>
                  <a:srgbClr val="000000"/>
                </a:solidFill>
                <a:latin typeface="Helvetica World"/>
                <a:ea typeface="Helvetica World"/>
              </a:rPr>
              <a:t>Детальная информация о мероприятии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64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10"/>
          <p:cNvSpPr/>
          <p:nvPr/>
        </p:nvSpPr>
        <p:spPr>
          <a:xfrm>
            <a:off x="1980000" y="678960"/>
            <a:ext cx="1073916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499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5000" spc="-1" strike="noStrike">
                <a:solidFill>
                  <a:srgbClr val="000000"/>
                </a:solidFill>
                <a:latin typeface="Helvetica World Bold"/>
                <a:ea typeface="Helvetica World Bold"/>
              </a:rPr>
              <a:t>Возможности системы</a:t>
            </a: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12"/>
          <p:cNvSpPr/>
          <p:nvPr/>
        </p:nvSpPr>
        <p:spPr>
          <a:xfrm>
            <a:off x="6732000" y="1800000"/>
            <a:ext cx="483552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249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600" spc="-1" strike="noStrike">
                <a:solidFill>
                  <a:srgbClr val="000000"/>
                </a:solidFill>
                <a:latin typeface="Helvetica World Bold"/>
                <a:ea typeface="Helvetica World Bold"/>
              </a:rPr>
              <a:t>Для администратора: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7"/>
          <a:stretch/>
        </p:blipFill>
        <p:spPr>
          <a:xfrm>
            <a:off x="11736000" y="540000"/>
            <a:ext cx="6180480" cy="4500000"/>
          </a:xfrm>
          <a:prstGeom prst="rect">
            <a:avLst/>
          </a:prstGeom>
          <a:ln w="0">
            <a:solidFill>
              <a:srgbClr val="3465a4"/>
            </a:solidFill>
            <a:prstDash val="sysDot"/>
          </a:ln>
        </p:spPr>
      </p:pic>
      <p:pic>
        <p:nvPicPr>
          <p:cNvPr id="113" name="" descr=""/>
          <p:cNvPicPr/>
          <p:nvPr/>
        </p:nvPicPr>
        <p:blipFill>
          <a:blip r:embed="rId8"/>
          <a:stretch/>
        </p:blipFill>
        <p:spPr>
          <a:xfrm>
            <a:off x="11160000" y="2340000"/>
            <a:ext cx="6179760" cy="4500000"/>
          </a:xfrm>
          <a:prstGeom prst="rect">
            <a:avLst/>
          </a:prstGeom>
          <a:ln w="0">
            <a:solidFill>
              <a:srgbClr val="3465a4"/>
            </a:solidFill>
            <a:prstDash val="sysDot"/>
          </a:ln>
        </p:spPr>
      </p:pic>
      <p:sp>
        <p:nvSpPr>
          <p:cNvPr id="114" name="TextBox 13"/>
          <p:cNvSpPr/>
          <p:nvPr/>
        </p:nvSpPr>
        <p:spPr>
          <a:xfrm>
            <a:off x="6444000" y="2583000"/>
            <a:ext cx="6095520" cy="70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18" strike="noStrike">
                <a:solidFill>
                  <a:srgbClr val="000000"/>
                </a:solidFill>
                <a:latin typeface="Helvetica World"/>
                <a:ea typeface="Helvetica World"/>
              </a:rPr>
              <a:t>CRUD мероприятия </a:t>
            </a:r>
            <a:br>
              <a:rPr sz="2600"/>
            </a:br>
            <a:r>
              <a:rPr b="0" lang="en-US" sz="2600" spc="18" strike="noStrike">
                <a:solidFill>
                  <a:srgbClr val="000000"/>
                </a:solidFill>
                <a:latin typeface="Helvetica World"/>
                <a:ea typeface="Helvetica World"/>
              </a:rPr>
              <a:t>с загрузкой </a:t>
            </a:r>
            <a:br>
              <a:rPr sz="2600"/>
            </a:br>
            <a:r>
              <a:rPr b="0" lang="en-US" sz="2600" spc="18" strike="noStrike">
                <a:solidFill>
                  <a:srgbClr val="000000"/>
                </a:solidFill>
                <a:latin typeface="Helvetica World"/>
                <a:ea typeface="Helvetica World"/>
              </a:rPr>
              <a:t>изображений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18" strike="noStrike">
                <a:solidFill>
                  <a:srgbClr val="000000"/>
                </a:solidFill>
                <a:latin typeface="Helvetica World"/>
                <a:ea typeface="Helvetica World"/>
              </a:rPr>
              <a:t>Управление статьями </a:t>
            </a:r>
            <a:br>
              <a:rPr sz="2600"/>
            </a:br>
            <a:r>
              <a:rPr b="0" lang="en-US" sz="2600" spc="18" strike="noStrike">
                <a:solidFill>
                  <a:srgbClr val="000000"/>
                </a:solidFill>
                <a:latin typeface="Helvetica World"/>
                <a:ea typeface="Helvetica World"/>
              </a:rPr>
              <a:t>расходов 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18" strike="noStrike">
                <a:solidFill>
                  <a:srgbClr val="000000"/>
                </a:solidFill>
                <a:latin typeface="Helvetica World"/>
                <a:ea typeface="Helvetica World"/>
              </a:rPr>
              <a:t>Финансовые расчеты в реальном времени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18" strike="noStrike">
                <a:solidFill>
                  <a:srgbClr val="000000"/>
                </a:solidFill>
                <a:latin typeface="Helvetica World"/>
                <a:ea typeface="Helvetica World"/>
              </a:rPr>
              <a:t>10+ категорий расходов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18" strike="noStrike">
                <a:solidFill>
                  <a:srgbClr val="000000"/>
                </a:solidFill>
                <a:latin typeface="Helvetica World"/>
                <a:ea typeface="Helvetica World"/>
              </a:rPr>
              <a:t>Учет участников и скидок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lvl="1" marL="561240" indent="-280800" defTabSz="914400">
              <a:lnSpc>
                <a:spcPts val="364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18" strike="noStrike">
                <a:solidFill>
                  <a:srgbClr val="000000"/>
                </a:solidFill>
                <a:latin typeface="Helvetica World"/>
                <a:ea typeface="Helvetica World"/>
              </a:rPr>
              <a:t>Автоматический расчет: себестоимость, доход, прибыль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64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9"/>
          <a:srcRect l="31852" t="4539" r="27601" b="27845"/>
          <a:stretch/>
        </p:blipFill>
        <p:spPr>
          <a:xfrm>
            <a:off x="13860360" y="5580000"/>
            <a:ext cx="2519640" cy="3059640"/>
          </a:xfrm>
          <a:prstGeom prst="rect">
            <a:avLst/>
          </a:prstGeom>
          <a:ln w="0">
            <a:solidFill>
              <a:srgbClr val="3465a4"/>
            </a:solidFill>
            <a:prstDash val="sysDot"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2032560" y="-69120"/>
            <a:ext cx="14223240" cy="10356120"/>
          </a:xfrm>
          <a:prstGeom prst="rect">
            <a:avLst/>
          </a:prstGeom>
          <a:ln w="0">
            <a:solidFill>
              <a:srgbClr val="3465a4"/>
            </a:solidFill>
            <a:prstDash val="sysDot"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2080080" y="0"/>
            <a:ext cx="14128200" cy="10287000"/>
          </a:xfrm>
          <a:prstGeom prst="rect">
            <a:avLst/>
          </a:prstGeom>
          <a:ln w="0">
            <a:solidFill>
              <a:srgbClr val="3465a4"/>
            </a:solidFill>
            <a:prstDash val="sysDot"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2026080" y="-78840"/>
            <a:ext cx="14236200" cy="10365840"/>
          </a:xfrm>
          <a:prstGeom prst="rect">
            <a:avLst/>
          </a:prstGeom>
          <a:ln w="0">
            <a:solidFill>
              <a:srgbClr val="3465a4"/>
            </a:solidFill>
            <a:prstDash val="sysDot"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" descr=""/>
          <p:cNvPicPr/>
          <p:nvPr/>
        </p:nvPicPr>
        <p:blipFill>
          <a:blip r:embed="rId1"/>
          <a:stretch/>
        </p:blipFill>
        <p:spPr>
          <a:xfrm>
            <a:off x="2034000" y="0"/>
            <a:ext cx="14220000" cy="10353960"/>
          </a:xfrm>
          <a:prstGeom prst="rect">
            <a:avLst/>
          </a:prstGeom>
          <a:ln w="0">
            <a:solidFill>
              <a:srgbClr val="3465a4"/>
            </a:solidFill>
            <a:prstDash val="sysDot"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2080080" y="0"/>
            <a:ext cx="14128200" cy="10287000"/>
          </a:xfrm>
          <a:prstGeom prst="rect">
            <a:avLst/>
          </a:prstGeom>
          <a:ln w="0">
            <a:solidFill>
              <a:srgbClr val="3465a4"/>
            </a:solidFill>
            <a:prstDash val="sysDot"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2"/>
          <p:cNvGrpSpPr/>
          <p:nvPr/>
        </p:nvGrpSpPr>
        <p:grpSpPr>
          <a:xfrm>
            <a:off x="15228000" y="7227000"/>
            <a:ext cx="3060000" cy="3060000"/>
            <a:chOff x="15228000" y="7227000"/>
            <a:chExt cx="3060000" cy="3060000"/>
          </a:xfrm>
        </p:grpSpPr>
        <p:sp>
          <p:nvSpPr>
            <p:cNvPr id="122" name="Freeform 3"/>
            <p:cNvSpPr/>
            <p:nvPr/>
          </p:nvSpPr>
          <p:spPr>
            <a:xfrm>
              <a:off x="15228000" y="7227000"/>
              <a:ext cx="3060000" cy="3060000"/>
            </a:xfrm>
            <a:custGeom>
              <a:avLst/>
              <a:gdLst>
                <a:gd name="textAreaLeft" fmla="*/ 0 w 3060000"/>
                <a:gd name="textAreaRight" fmla="*/ 3062880 w 3060000"/>
                <a:gd name="textAreaTop" fmla="*/ 0 h 3060000"/>
                <a:gd name="textAreaBottom" fmla="*/ 3062880 h 3060000"/>
              </a:gdLst>
              <a:ahLst/>
              <a:rect l="textAreaLeft" t="textAreaTop" r="textAreaRight" b="textAreaBottom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ad9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3" name="Freeform 4"/>
          <p:cNvSpPr/>
          <p:nvPr/>
        </p:nvSpPr>
        <p:spPr>
          <a:xfrm flipH="1" flipV="1" rot="10800000">
            <a:off x="16264800" y="294480"/>
            <a:ext cx="1806120" cy="1806120"/>
          </a:xfrm>
          <a:custGeom>
            <a:avLst/>
            <a:gdLst>
              <a:gd name="textAreaLeft" fmla="*/ -720 w 1806120"/>
              <a:gd name="textAreaRight" fmla="*/ 1806480 w 1806120"/>
              <a:gd name="textAreaTop" fmla="*/ -720 h 1806120"/>
              <a:gd name="textAreaBottom" fmla="*/ 1806480 h 1806120"/>
            </a:gdLst>
            <a:ahLst/>
            <a:rect l="textAreaLeft" t="textAreaTop" r="textAreaRight" b="textAreaBottom"/>
            <a:pathLst>
              <a:path w="1807234" h="1807234">
                <a:moveTo>
                  <a:pt x="0" y="0"/>
                </a:moveTo>
                <a:lnTo>
                  <a:pt x="1807234" y="0"/>
                </a:lnTo>
                <a:lnTo>
                  <a:pt x="1807234" y="1807234"/>
                </a:lnTo>
                <a:lnTo>
                  <a:pt x="0" y="18072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Freeform 6"/>
          <p:cNvSpPr/>
          <p:nvPr/>
        </p:nvSpPr>
        <p:spPr>
          <a:xfrm flipH="1" flipV="1" rot="10800000">
            <a:off x="16372800" y="179640"/>
            <a:ext cx="1806120" cy="1806120"/>
          </a:xfrm>
          <a:custGeom>
            <a:avLst/>
            <a:gdLst>
              <a:gd name="textAreaLeft" fmla="*/ -720 w 1806120"/>
              <a:gd name="textAreaRight" fmla="*/ 1806480 w 1806120"/>
              <a:gd name="textAreaTop" fmla="*/ -720 h 1806120"/>
              <a:gd name="textAreaBottom" fmla="*/ 1806480 h 1806120"/>
            </a:gdLst>
            <a:ahLst/>
            <a:rect l="textAreaLeft" t="textAreaTop" r="textAreaRight" b="textAreaBottom"/>
            <a:pathLst>
              <a:path w="1807234" h="1807234">
                <a:moveTo>
                  <a:pt x="0" y="0"/>
                </a:moveTo>
                <a:lnTo>
                  <a:pt x="1807234" y="0"/>
                </a:lnTo>
                <a:lnTo>
                  <a:pt x="1807234" y="1807234"/>
                </a:lnTo>
                <a:lnTo>
                  <a:pt x="0" y="18072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7"/>
          <p:cNvSpPr/>
          <p:nvPr/>
        </p:nvSpPr>
        <p:spPr>
          <a:xfrm>
            <a:off x="3420000" y="869400"/>
            <a:ext cx="10080000" cy="16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499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5000" spc="-1" strike="noStrike">
                <a:solidFill>
                  <a:srgbClr val="000000"/>
                </a:solidFill>
                <a:latin typeface="Helvetica World Bold"/>
                <a:ea typeface="Helvetica World Bold"/>
              </a:rPr>
              <a:t>Ключевые особенности</a:t>
            </a:r>
            <a:endParaRPr b="1" lang="ru-RU" sz="5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5499"/>
              </a:lnSpc>
              <a:spcBef>
                <a:spcPts val="1191"/>
              </a:spcBef>
              <a:spcAft>
                <a:spcPts val="992"/>
              </a:spcAft>
            </a:pP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98"/>
          <p:cNvSpPr/>
          <p:nvPr/>
        </p:nvSpPr>
        <p:spPr>
          <a:xfrm>
            <a:off x="1764000" y="1620000"/>
            <a:ext cx="14219640" cy="66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1. Гибкая система расходов</a:t>
            </a:r>
            <a:endParaRPr b="1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Стандартные категории + пользовательские</a:t>
            </a:r>
            <a:endParaRPr b="1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Добавление/удаление статей на лету</a:t>
            </a:r>
            <a:endParaRPr b="1" lang="ru-RU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2. Два режима просмотра</a:t>
            </a:r>
            <a:endParaRPr b="1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Карточки с изображениями</a:t>
            </a:r>
            <a:endParaRPr b="1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Таблица с итоговыми суммами</a:t>
            </a:r>
            <a:endParaRPr b="1" lang="ru-RU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3. Автоматические расчеты</a:t>
            </a:r>
            <a:endParaRPr b="1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Себестоимость</a:t>
            </a:r>
            <a:endParaRPr b="1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Доход</a:t>
            </a:r>
            <a:endParaRPr b="1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Прибыль/убыток</a:t>
            </a:r>
            <a:endParaRPr b="1" lang="ru-RU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4. Ролевая модель</a:t>
            </a:r>
            <a:endParaRPr b="1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Обычные пользователи (только просмотр)</a:t>
            </a:r>
            <a:endParaRPr b="1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Администраторы (полный контроль)</a:t>
            </a:r>
            <a:endParaRPr b="1" lang="ru-RU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1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Freeform 13"/>
          <p:cNvSpPr/>
          <p:nvPr/>
        </p:nvSpPr>
        <p:spPr>
          <a:xfrm>
            <a:off x="15120000" y="6912000"/>
            <a:ext cx="3168000" cy="3168000"/>
          </a:xfrm>
          <a:custGeom>
            <a:avLst/>
            <a:gdLst>
              <a:gd name="textAreaLeft" fmla="*/ 0 w 3168000"/>
              <a:gd name="textAreaRight" fmla="*/ 3169440 w 3168000"/>
              <a:gd name="textAreaTop" fmla="*/ 0 h 3168000"/>
              <a:gd name="textAreaBottom" fmla="*/ 3169440 h 3168000"/>
            </a:gdLst>
            <a:ahLst/>
            <a:rect l="textAreaLeft" t="textAreaTop" r="textAreaRight" b="textAreaBottom"/>
            <a:pathLst>
              <a:path w="1884116" h="1884116">
                <a:moveTo>
                  <a:pt x="0" y="0"/>
                </a:moveTo>
                <a:lnTo>
                  <a:pt x="1884116" y="0"/>
                </a:lnTo>
                <a:lnTo>
                  <a:pt x="1884116" y="1884117"/>
                </a:lnTo>
                <a:lnTo>
                  <a:pt x="0" y="188411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7"/>
          <a:stretch/>
        </p:blipFill>
        <p:spPr>
          <a:xfrm>
            <a:off x="12052800" y="1895040"/>
            <a:ext cx="5407200" cy="3936960"/>
          </a:xfrm>
          <a:prstGeom prst="rect">
            <a:avLst/>
          </a:prstGeom>
          <a:ln w="0">
            <a:solidFill>
              <a:srgbClr val="3465a4"/>
            </a:solidFill>
            <a:prstDash val="sysDot"/>
          </a:ln>
        </p:spPr>
      </p:pic>
      <p:pic>
        <p:nvPicPr>
          <p:cNvPr id="129" name="" descr=""/>
          <p:cNvPicPr/>
          <p:nvPr/>
        </p:nvPicPr>
        <p:blipFill>
          <a:blip r:embed="rId8"/>
          <a:stretch/>
        </p:blipFill>
        <p:spPr>
          <a:xfrm>
            <a:off x="10447920" y="4032000"/>
            <a:ext cx="6472080" cy="4712400"/>
          </a:xfrm>
          <a:prstGeom prst="rect">
            <a:avLst/>
          </a:prstGeom>
          <a:ln w="0">
            <a:solidFill>
              <a:srgbClr val="3465a4"/>
            </a:solidFill>
            <a:prstDash val="sysDot"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AutoShape 4"/>
          <p:cNvSpPr/>
          <p:nvPr/>
        </p:nvSpPr>
        <p:spPr>
          <a:xfrm>
            <a:off x="-360" y="9900000"/>
            <a:ext cx="18287640" cy="348120"/>
          </a:xfrm>
          <a:prstGeom prst="rect">
            <a:avLst/>
          </a:prstGeom>
          <a:solidFill>
            <a:srgbClr val="fe90b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1" name="Group 1"/>
          <p:cNvGrpSpPr/>
          <p:nvPr/>
        </p:nvGrpSpPr>
        <p:grpSpPr>
          <a:xfrm>
            <a:off x="773280" y="1028880"/>
            <a:ext cx="777600" cy="777600"/>
            <a:chOff x="773280" y="1028880"/>
            <a:chExt cx="777600" cy="777600"/>
          </a:xfrm>
        </p:grpSpPr>
        <p:sp>
          <p:nvSpPr>
            <p:cNvPr id="132" name="Freeform 1"/>
            <p:cNvSpPr/>
            <p:nvPr/>
          </p:nvSpPr>
          <p:spPr>
            <a:xfrm>
              <a:off x="773280" y="1028880"/>
              <a:ext cx="777600" cy="777600"/>
            </a:xfrm>
            <a:custGeom>
              <a:avLst/>
              <a:gdLst>
                <a:gd name="textAreaLeft" fmla="*/ 0 w 777600"/>
                <a:gd name="textAreaRight" fmla="*/ 778680 w 777600"/>
                <a:gd name="textAreaTop" fmla="*/ 0 h 777600"/>
                <a:gd name="textAreaBottom" fmla="*/ 778680 h 777600"/>
              </a:gdLst>
              <a:ahLst/>
              <a:rect l="textAreaLeft" t="textAreaTop" r="textAreaRight" b="textAreaBottom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ad9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3" name="Freeform 11"/>
          <p:cNvSpPr/>
          <p:nvPr/>
        </p:nvSpPr>
        <p:spPr>
          <a:xfrm flipH="1" flipV="1" rot="10800000">
            <a:off x="16264800" y="294480"/>
            <a:ext cx="1806120" cy="1806120"/>
          </a:xfrm>
          <a:custGeom>
            <a:avLst/>
            <a:gdLst>
              <a:gd name="textAreaLeft" fmla="*/ -720 w 1806120"/>
              <a:gd name="textAreaRight" fmla="*/ 1806480 w 1806120"/>
              <a:gd name="textAreaTop" fmla="*/ -720 h 1806120"/>
              <a:gd name="textAreaBottom" fmla="*/ 1806480 h 1806120"/>
            </a:gdLst>
            <a:ahLst/>
            <a:rect l="textAreaLeft" t="textAreaTop" r="textAreaRight" b="textAreaBottom"/>
            <a:pathLst>
              <a:path w="1807234" h="1807234">
                <a:moveTo>
                  <a:pt x="0" y="0"/>
                </a:moveTo>
                <a:lnTo>
                  <a:pt x="1807234" y="0"/>
                </a:lnTo>
                <a:lnTo>
                  <a:pt x="1807234" y="1807234"/>
                </a:lnTo>
                <a:lnTo>
                  <a:pt x="0" y="18072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Freeform 12"/>
          <p:cNvSpPr/>
          <p:nvPr/>
        </p:nvSpPr>
        <p:spPr>
          <a:xfrm flipH="1" flipV="1" rot="10800000">
            <a:off x="16372800" y="179640"/>
            <a:ext cx="1806120" cy="1806120"/>
          </a:xfrm>
          <a:custGeom>
            <a:avLst/>
            <a:gdLst>
              <a:gd name="textAreaLeft" fmla="*/ -720 w 1806120"/>
              <a:gd name="textAreaRight" fmla="*/ 1806480 w 1806120"/>
              <a:gd name="textAreaTop" fmla="*/ -720 h 1806120"/>
              <a:gd name="textAreaBottom" fmla="*/ 1806480 h 1806120"/>
            </a:gdLst>
            <a:ahLst/>
            <a:rect l="textAreaLeft" t="textAreaTop" r="textAreaRight" b="textAreaBottom"/>
            <a:pathLst>
              <a:path w="1807234" h="1807234">
                <a:moveTo>
                  <a:pt x="0" y="0"/>
                </a:moveTo>
                <a:lnTo>
                  <a:pt x="1807234" y="0"/>
                </a:lnTo>
                <a:lnTo>
                  <a:pt x="1807234" y="1807234"/>
                </a:lnTo>
                <a:lnTo>
                  <a:pt x="0" y="18072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3"/>
          <p:cNvSpPr/>
          <p:nvPr/>
        </p:nvSpPr>
        <p:spPr>
          <a:xfrm>
            <a:off x="3060000" y="869400"/>
            <a:ext cx="13205160" cy="16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499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5000" spc="-1" strike="noStrike">
                <a:solidFill>
                  <a:srgbClr val="000000"/>
                </a:solidFill>
                <a:latin typeface="Helvetica World Bold"/>
                <a:ea typeface="Helvetica World Bold"/>
              </a:rPr>
              <a:t>Планы развития</a:t>
            </a:r>
            <a:endParaRPr b="1" lang="ru-RU" sz="5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5499"/>
              </a:lnSpc>
              <a:spcBef>
                <a:spcPts val="1191"/>
              </a:spcBef>
              <a:spcAft>
                <a:spcPts val="992"/>
              </a:spcAft>
            </a:pP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4"/>
          <p:cNvSpPr/>
          <p:nvPr/>
        </p:nvSpPr>
        <p:spPr>
          <a:xfrm>
            <a:off x="2520000" y="2160000"/>
            <a:ext cx="14219640" cy="66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Бл</a:t>
            </a: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ижа</a:t>
            </a: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йш</a:t>
            </a: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ее </a:t>
            </a: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буд</a:t>
            </a: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уще</a:t>
            </a: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е: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Ге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не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ра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ци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я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Ex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cel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-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от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че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то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в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ди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аг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ра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м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ма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ми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L-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ли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ст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ов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ки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дл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я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ме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ро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пр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ия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ти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й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Ср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ав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не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ни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е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пл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ан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ов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ых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и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ф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ак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ти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че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ск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их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по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ка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за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те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ле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й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Дол</a:t>
            </a: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гос</a:t>
            </a: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роч</a:t>
            </a:r>
            <a:r>
              <a:rPr b="1" lang="ru-RU" sz="2400" spc="-1" strike="noStrike">
                <a:solidFill>
                  <a:srgbClr val="000000"/>
                </a:solidFill>
                <a:latin typeface="Arial"/>
              </a:rPr>
              <a:t>но: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Да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ш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бо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рд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ан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ал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ит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ик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и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ail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-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ра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сс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ы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лк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и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О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нл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ай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н-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оп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ла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та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би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ле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то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в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М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об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ил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ьн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ое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пр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ил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ож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ен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ие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5"/>
          <a:stretch/>
        </p:blipFill>
        <p:spPr>
          <a:xfrm>
            <a:off x="13140000" y="2304000"/>
            <a:ext cx="4140000" cy="4739040"/>
          </a:xfrm>
          <a:prstGeom prst="rect">
            <a:avLst/>
          </a:prstGeom>
          <a:ln w="0">
            <a:solidFill>
              <a:srgbClr val="3465a4"/>
            </a:solidFill>
            <a:prstDash val="sysDot"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Freeform 2"/>
          <p:cNvSpPr/>
          <p:nvPr/>
        </p:nvSpPr>
        <p:spPr>
          <a:xfrm>
            <a:off x="12197520" y="2364480"/>
            <a:ext cx="5477760" cy="5518800"/>
          </a:xfrm>
          <a:custGeom>
            <a:avLst/>
            <a:gdLst>
              <a:gd name="textAreaLeft" fmla="*/ 0 w 5477760"/>
              <a:gd name="textAreaRight" fmla="*/ 5478840 w 5477760"/>
              <a:gd name="textAreaTop" fmla="*/ 0 h 5518800"/>
              <a:gd name="textAreaBottom" fmla="*/ 5519880 h 5518800"/>
            </a:gdLst>
            <a:ahLst/>
            <a:rect l="textAreaLeft" t="textAreaTop" r="textAreaRight" b="textAreaBottom"/>
            <a:pathLst>
              <a:path w="5478866" h="5519855">
                <a:moveTo>
                  <a:pt x="5478866" y="5519856"/>
                </a:moveTo>
                <a:lnTo>
                  <a:pt x="0" y="5519856"/>
                </a:lnTo>
                <a:lnTo>
                  <a:pt x="0" y="0"/>
                </a:lnTo>
                <a:lnTo>
                  <a:pt x="5478866" y="0"/>
                </a:lnTo>
                <a:lnTo>
                  <a:pt x="5478866" y="5519856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AutoShape 3"/>
          <p:cNvSpPr/>
          <p:nvPr/>
        </p:nvSpPr>
        <p:spPr>
          <a:xfrm>
            <a:off x="16800120" y="36000"/>
            <a:ext cx="1487160" cy="10248120"/>
          </a:xfrm>
          <a:prstGeom prst="rect">
            <a:avLst/>
          </a:prstGeom>
          <a:solidFill>
            <a:srgbClr val="fe90b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AutoShape 5"/>
          <p:cNvSpPr/>
          <p:nvPr/>
        </p:nvSpPr>
        <p:spPr>
          <a:xfrm>
            <a:off x="12211200" y="5143680"/>
            <a:ext cx="479520" cy="5142600"/>
          </a:xfrm>
          <a:prstGeom prst="rect">
            <a:avLst/>
          </a:prstGeom>
          <a:solidFill>
            <a:srgbClr val="0ad9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41" name="Group 6"/>
          <p:cNvGrpSpPr/>
          <p:nvPr/>
        </p:nvGrpSpPr>
        <p:grpSpPr>
          <a:xfrm>
            <a:off x="1028880" y="1028880"/>
            <a:ext cx="777600" cy="777600"/>
            <a:chOff x="1028880" y="1028880"/>
            <a:chExt cx="777600" cy="777600"/>
          </a:xfrm>
        </p:grpSpPr>
        <p:sp>
          <p:nvSpPr>
            <p:cNvPr id="142" name="Freeform 7"/>
            <p:cNvSpPr/>
            <p:nvPr/>
          </p:nvSpPr>
          <p:spPr>
            <a:xfrm>
              <a:off x="1028880" y="1028880"/>
              <a:ext cx="777600" cy="777600"/>
            </a:xfrm>
            <a:custGeom>
              <a:avLst/>
              <a:gdLst>
                <a:gd name="textAreaLeft" fmla="*/ 0 w 777600"/>
                <a:gd name="textAreaRight" fmla="*/ 778680 w 777600"/>
                <a:gd name="textAreaTop" fmla="*/ 0 h 777600"/>
                <a:gd name="textAreaBottom" fmla="*/ 778680 h 777600"/>
              </a:gdLst>
              <a:ahLst/>
              <a:rect l="textAreaLeft" t="textAreaTop" r="textAreaRight" b="textAreaBottom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f60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3" name="Freeform 8"/>
          <p:cNvSpPr/>
          <p:nvPr/>
        </p:nvSpPr>
        <p:spPr>
          <a:xfrm>
            <a:off x="12059280" y="7046280"/>
            <a:ext cx="3240000" cy="3240000"/>
          </a:xfrm>
          <a:custGeom>
            <a:avLst/>
            <a:gdLst>
              <a:gd name="textAreaLeft" fmla="*/ 0 w 3240000"/>
              <a:gd name="textAreaRight" fmla="*/ 3241080 w 3240000"/>
              <a:gd name="textAreaTop" fmla="*/ 0 h 3240000"/>
              <a:gd name="textAreaBottom" fmla="*/ 3241080 h 3240000"/>
            </a:gdLst>
            <a:ahLst/>
            <a:rect l="textAreaLeft" t="textAreaTop" r="textAreaRight" b="textAreaBottom"/>
            <a:pathLst>
              <a:path w="3241030" h="3241030">
                <a:moveTo>
                  <a:pt x="0" y="0"/>
                </a:moveTo>
                <a:lnTo>
                  <a:pt x="3241030" y="0"/>
                </a:lnTo>
                <a:lnTo>
                  <a:pt x="3241030" y="3241030"/>
                </a:lnTo>
                <a:lnTo>
                  <a:pt x="0" y="32410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Freeform 9"/>
          <p:cNvSpPr/>
          <p:nvPr/>
        </p:nvSpPr>
        <p:spPr>
          <a:xfrm rot="10800000">
            <a:off x="13603680" y="5940720"/>
            <a:ext cx="4684320" cy="4346280"/>
          </a:xfrm>
          <a:custGeom>
            <a:avLst/>
            <a:gdLst>
              <a:gd name="textAreaLeft" fmla="*/ 0 w 4684320"/>
              <a:gd name="textAreaRight" fmla="*/ 4685400 w 4684320"/>
              <a:gd name="textAreaTop" fmla="*/ 0 h 4346280"/>
              <a:gd name="textAreaBottom" fmla="*/ 4347360 h 4346280"/>
            </a:gdLst>
            <a:ahLst/>
            <a:rect l="textAreaLeft" t="textAreaTop" r="textAreaRight" b="textAreaBottom"/>
            <a:pathLst>
              <a:path w="3433286" h="3433286">
                <a:moveTo>
                  <a:pt x="0" y="0"/>
                </a:moveTo>
                <a:lnTo>
                  <a:pt x="3433286" y="0"/>
                </a:lnTo>
                <a:lnTo>
                  <a:pt x="3433286" y="3433286"/>
                </a:lnTo>
                <a:lnTo>
                  <a:pt x="0" y="343328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Freeform 10"/>
          <p:cNvSpPr/>
          <p:nvPr/>
        </p:nvSpPr>
        <p:spPr>
          <a:xfrm rot="10800000">
            <a:off x="15416280" y="1428480"/>
            <a:ext cx="1911600" cy="1911600"/>
          </a:xfrm>
          <a:custGeom>
            <a:avLst/>
            <a:gdLst>
              <a:gd name="textAreaLeft" fmla="*/ 0 w 1911600"/>
              <a:gd name="textAreaRight" fmla="*/ 1912680 w 1911600"/>
              <a:gd name="textAreaTop" fmla="*/ 0 h 1911600"/>
              <a:gd name="textAreaBottom" fmla="*/ 1912680 h 1911600"/>
            </a:gdLst>
            <a:ahLst/>
            <a:rect l="textAreaLeft" t="textAreaTop" r="textAreaRight" b="textAreaBottom"/>
            <a:pathLst>
              <a:path w="1912854" h="1912854">
                <a:moveTo>
                  <a:pt x="0" y="0"/>
                </a:moveTo>
                <a:lnTo>
                  <a:pt x="1912854" y="0"/>
                </a:lnTo>
                <a:lnTo>
                  <a:pt x="1912854" y="1912853"/>
                </a:lnTo>
                <a:lnTo>
                  <a:pt x="0" y="191285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11"/>
          <p:cNvSpPr/>
          <p:nvPr/>
        </p:nvSpPr>
        <p:spPr>
          <a:xfrm>
            <a:off x="2160000" y="3363480"/>
            <a:ext cx="7739640" cy="16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201"/>
              </a:lnSpc>
              <a:tabLst>
                <a:tab algn="l" pos="0"/>
              </a:tabLst>
            </a:pPr>
            <a:r>
              <a:rPr b="0" lang="en-US" sz="12000" spc="-1" strike="noStrike">
                <a:solidFill>
                  <a:srgbClr val="000000"/>
                </a:solidFill>
                <a:latin typeface="Helvetica World"/>
                <a:ea typeface="Helvetica World"/>
              </a:rPr>
              <a:t>Спасибо!</a:t>
            </a:r>
            <a:endParaRPr b="0" lang="ru-RU" sz="1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976</TotalTime>
  <Application>LibreOffice/24.2.7.2$Linux_X86_64 LibreOffice_project/420$Build-2</Application>
  <AppVersion>15.0000</AppVersion>
  <Words>200</Words>
  <Paragraphs>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Lenovo</dc:creator>
  <dc:description/>
  <dc:identifier>DAG4_QQ-_Lc</dc:identifier>
  <dc:language>ru-RU</dc:language>
  <cp:lastModifiedBy/>
  <cp:lastPrinted>2026-05-12T16:18:02Z</cp:lastPrinted>
  <dcterms:modified xsi:type="dcterms:W3CDTF">2026-05-12T16:20:39Z</dcterms:modified>
  <cp:revision>9</cp:revision>
  <dc:subject/>
  <dc:title>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Произвольный</vt:lpwstr>
  </property>
  <property fmtid="{D5CDD505-2E9C-101B-9397-08002B2CF9AE}" pid="3" name="Slides">
    <vt:i4>6</vt:i4>
  </property>
</Properties>
</file>